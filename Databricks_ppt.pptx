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5" r:id="rId10"/>
    <p:sldId id="267" r:id="rId11"/>
    <p:sldId id="268" r:id="rId12"/>
    <p:sldId id="270" r:id="rId13"/>
    <p:sldId id="271" r:id="rId14"/>
    <p:sldId id="272" r:id="rId15"/>
    <p:sldId id="27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360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Atlon × Sports Bar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41148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a Scalable Medallion Architecture on Databricks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Unified Supply Chain Analytics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04288" y="374904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 Lake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68496" y="374904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PySpark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32704" y="374904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2704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AWS S3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96912" y="374904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6912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 Schema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Post-Acquisition Data Integration Project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0EE603-366E-32A6-F0AC-9A27E09883D1}"/>
              </a:ext>
            </a:extLst>
          </p:cNvPr>
          <p:cNvSpPr txBox="1"/>
          <p:nvPr/>
        </p:nvSpPr>
        <p:spPr>
          <a:xfrm>
            <a:off x="6629398" y="4447103"/>
            <a:ext cx="225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Presented by: Riya Dedhia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5029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Background &amp; Business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44752"/>
            <a:ext cx="5029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447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5361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Architecture – Medallion Layers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020824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20824"/>
            <a:ext cx="502920" cy="47548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0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1122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 Schema &amp; Data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96896"/>
            <a:ext cx="50292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968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6883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172968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72968"/>
            <a:ext cx="5029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729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2644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 Processing Pipeline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49040"/>
            <a:ext cx="5029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49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38404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 Orders – Full &amp; Incremental Load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325112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325112"/>
            <a:ext cx="5029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251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4416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Orchestration, Analytics &amp; Dashboard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Background &amp; Business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39319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ATLON  (Parent)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Sports Equipment (Cricket, Badminton, Volleyball)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Systems: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OLTP + OLAP (Databricks)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Mature Medallion (Bronze → Silver → Gold)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operational BI dashboards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93,000+ fact rows, structured star schema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822960"/>
            <a:ext cx="39319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822960"/>
            <a:ext cx="393192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SPORTS BAR  (Child – Acquired)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261872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Bars &amp; Nutrition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Chaotic – spreadsheets, cloud drives, WhatsApp, ad-hoc APIs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Issues: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standardization, duplicate IDs, negative prices, missing months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 dashboards from OLTP only
</a:t>
            </a:r>
            <a:r>
              <a:rPr lang="en-US" sz="11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Gap: </a:t>
            </a: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unified view with parent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2514600"/>
            <a:ext cx="64008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331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ACQUIRES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Success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212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64008" cy="182880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CEO needs a single dashboard showing aggregated revenue from BOTH Atlon &amp; Sports Bar products</a:t>
            </a:r>
          </a:p>
          <a:p>
            <a:endParaRPr lang="en-US" sz="100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Top-5 products, combined revenue, supply chain forecasting — none of this is possible without a unified data layer</a:t>
            </a:r>
          </a:p>
          <a:p>
            <a:endParaRPr lang="en-US" sz="100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Sports Bar's chaotic data sources must be ingested, cleaned, and merged with Atlon's gold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822960"/>
            <a:ext cx="3200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822960"/>
            <a:ext cx="64008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886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Tony's Success Criteria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118872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aggregated dashboard for both companies
</a:t>
            </a:r>
            <a:r>
              <a:rPr lang="en-US" sz="10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learning curve for new hires
</a:t>
            </a:r>
            <a:r>
              <a:rPr lang="en-US" sz="10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long-term solution (beyond 1-year ERP migration)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94782"/>
            <a:ext cx="8595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64008" cy="19202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47181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Solution – Scalable Databricks Pipeline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8296" y="3090203"/>
            <a:ext cx="69154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complete Bronze → Silver → Gold medallion pipeline for Sports Bar data using Databricks (free edition) and AWS S3. Process historical backfill (Jul–Nov) then switch to daily incremental loads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 Sports Bar's gold layer into Atlon's consolidated gold layer via Delta Lake upsets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Expose a single denormalized sales_view for BI dashboards and Genie AI assistants</a:t>
            </a:r>
            <a:endParaRPr lang="en-US" sz="1000" b="1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Medallion Architecture –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5943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BRONZE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Landing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Ingest CSV files from AWS S3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965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 schema automatically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450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metadata: read_timestamp, file_name, file_size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9352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 to Delta tables (audit trail)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4198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processed files to /archive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880360"/>
            <a:ext cx="1828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27432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8229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22960"/>
            <a:ext cx="2743200" cy="594360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SILVER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Cleansed &amp; Enriched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14813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Deduplicate records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1965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Trim whitespace, initcap fields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450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Regex corrections (e.g., 'proten' → 'protein')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9352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Standardize city names (e.g., 'Bangaluru' → 'Bangalore')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4198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nulls, invalid IDs, negative prices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880360"/>
            <a:ext cx="1828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27432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8229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822960"/>
            <a:ext cx="2743200" cy="594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BI-Ready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14813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&amp; rename columns to parent schema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1965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Aggregations (monthly fact quantities)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2450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Derive revenue = price × quantity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29352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Upsert/merge into Atlon consolidated gold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34198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dashboards &amp; Genie AI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146304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Sports Bar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OLTP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9164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1920240"/>
            <a:ext cx="146304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AWS S3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11880" y="1920240"/>
            <a:ext cx="1508760" cy="68580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19202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BRONZE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 Tables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49240" y="1920240"/>
            <a:ext cx="1463040" cy="685800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Cleansed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1228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040880" y="1920240"/>
            <a:ext cx="1463040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SB GOLD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(Child)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0" y="3108960"/>
            <a:ext cx="36576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ATLON GOLD  (Consolidated)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  UPSERT / MERGE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210312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Genie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78608" y="3246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74320" y="40233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Insight: 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chaos post-merger highlights why medallion architecture matters — it standardizes messy sources into reliable BI without disrupting legacy </a:t>
            </a:r>
            <a:r>
              <a:rPr lang="en-US" sz="160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Atlon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systems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BE477-AA43-1873-B97B-2DBD59A5E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431"/>
            <a:ext cx="9097107" cy="45690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F3B58F-F347-75F5-A526-6872324D1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30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Model – Star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281160" y="1618488"/>
            <a:ext cx="822960" cy="0"/>
          </a:xfrm>
          <a:prstGeom prst="line">
            <a:avLst/>
          </a:prstGeom>
          <a:noFill/>
          <a:ln w="19050">
            <a:solidFill>
              <a:srgbClr val="7B8FA6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9281160" y="3904488"/>
            <a:ext cx="822960" cy="0"/>
          </a:xfrm>
          <a:prstGeom prst="line">
            <a:avLst/>
          </a:prstGeom>
          <a:noFill/>
          <a:ln w="19050">
            <a:solidFill>
              <a:srgbClr val="7B8FA6"/>
            </a:solidFill>
            <a:prstDash val="dash"/>
          </a:ln>
        </p:spPr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54E2A70-F341-4B8A-2433-BF40FC86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25" y="831142"/>
            <a:ext cx="8823960" cy="3915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 Processing Pipeline – Common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1965960" cy="4114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BRONZE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spark.read.csv() from S3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 schema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read_timestamp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saveAsTable (Delta, overwrite)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6712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822960"/>
            <a:ext cx="1965960" cy="411480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822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2801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dropDuplicates()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f.trim() / f.initcap()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regexp_replace()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when/otherwise mapping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Joins for enrichment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saveAsTable (overwrite)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6168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82296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822960"/>
            <a:ext cx="1965960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822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 GOLD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2801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&amp; rename cols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parent schema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saveAsTable FMCG.gold.sb_dim_*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5624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82296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822960"/>
            <a:ext cx="19659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822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12801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DeltaTable.forPath()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.merge(child, 'key')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.whenMatchedUpdateAll()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.whenNotMatchedInsertAll()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.execute()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224528"/>
            <a:ext cx="86868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51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Key Rule: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Dimensions must be processed BEFORE facts — facts join on product_code and customer_code keys generated in dim layers.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 Orders – Full Load (Historical Backfill)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4251960" cy="34747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Bronze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all S3 landing CSVs (51k rows, Jul–Nov)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51790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metadata columns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84708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 to Delta table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176272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52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processed files → /processed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04672"/>
            <a:ext cx="4251960" cy="347472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04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Silver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18872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null sold_quantity rows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51790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Regex: clean non-numeric customer IDs → '9999'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184708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dates: regexp_replace weekday prefix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176272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Dedupe on 5 key columns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50545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String-cast product_ID; join products for SHA code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83464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Upsert if table exists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16352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16352"/>
            <a:ext cx="425196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8163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 Gold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0040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required columns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52958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trunc(date, 'MM') → month_start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385876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groupBy(month_start, product_code, customer_code)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187952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sum(sold_quantity)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51713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Upsert to sb_fact_orders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816352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16352"/>
            <a:ext cx="42519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8163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 Parent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20040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 sb_fact_orders → Atlon fact_orders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52958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Keys: month_start + product_code + customer_code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85876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whenMatchedUpdateAll()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4187952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whenNotMatchedInsertAll()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451713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QC: count rows, min/max date (Jul 1 – Nov 30)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 Orders – Incremental Load (Daily)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029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411480" cy="5760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file arrives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0972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e.g., Dec1.csv (350 rows) → S3 landing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481328"/>
            <a:ext cx="5029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481328"/>
            <a:ext cx="411480" cy="57607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48132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" y="15270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Staging Bronze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17556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ONLY new file → append staging_orders_bronze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139696"/>
            <a:ext cx="5029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39696"/>
            <a:ext cx="411480" cy="576072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3969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" y="218541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file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24140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dbutils.fs.mv(landing → processed)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798064"/>
            <a:ext cx="5029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798064"/>
            <a:ext cx="411480" cy="576072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79806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28437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Staging Silver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" y="30723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same transforms → append main silver + staging_silver_orders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456432"/>
            <a:ext cx="5029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456432"/>
            <a:ext cx="411480" cy="5760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45643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35021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 Gold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3232" y="37307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Staging silver → trunc month → append sb_fact_orders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114800"/>
            <a:ext cx="5029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4114800"/>
            <a:ext cx="411480" cy="576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11480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" y="41605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 Parent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3232" y="43891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Dec records → group sum(qty) → upsert fact_orders; drop staging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0" y="822960"/>
            <a:ext cx="33832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0" y="822960"/>
            <a:ext cx="3383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822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Staging?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 only NEW data each day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gold stays untouched (green)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778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Avoids re-processing 51k+ rows daily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as data volume grows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778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 1-4 records aggregate → single Dec monthly row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</a:t>
            </a: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 staging tables post-merge (clean)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4690872"/>
            <a:ext cx="868680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67715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Dec 1 CSV (350 rows) → 217 post-clean → monthly agg → upsert single Dec row into parent gold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–Genie AI &amp; BI Dashboard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41148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gold.sales_view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216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Massive JOIN: fact_orders + all dims + dim_date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Derived: total_INR = price_INR × sold_quantity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856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denormalized table for fast BI queries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176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Duplicate-tolerant for analytics workloads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Powers all dashboard visualizations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804672"/>
            <a:ext cx="4343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04672"/>
            <a:ext cx="434340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8046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Genie AI Assistant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2161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language → SQL + visualization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536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"Revenue by quarter" → auto bar chart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856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"Top 5 customers by quantity" → ranked table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1762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queries on sales_view automatically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24963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Verifies SQL; no manual query writing needed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035808"/>
            <a:ext cx="8686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358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Visualizations – Atlon Sales Insights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3474720"/>
            <a:ext cx="1600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474720"/>
            <a:ext cx="16002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5661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Counters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" y="384048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 revenue &amp; total quantity sold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65960" y="3474720"/>
            <a:ext cx="1600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965960" y="3474720"/>
            <a:ext cx="16002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39112" y="35661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39112" y="384048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10 products by revenue (₹B labels)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03320" y="3474720"/>
            <a:ext cx="1600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03320" y="3474720"/>
            <a:ext cx="1600200" cy="548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35661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 Chart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76472" y="384048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breakdown by channel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3474720"/>
            <a:ext cx="1600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40680" y="3474720"/>
            <a:ext cx="16002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35661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 Line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84048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revenue &amp; qty trends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78040" y="3474720"/>
            <a:ext cx="1600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78040" y="3474720"/>
            <a:ext cx="16002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51192" y="35661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51192" y="384048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Quantity vs Price relationship</a:t>
            </a: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D9E44E8-9147-B75A-3A3E-3889FC255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" y="694944"/>
            <a:ext cx="8988083" cy="4362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Architecture Scales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7B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FMCG Data Pipeline  |  Atlon × Sports Bar  |  Databricks Medallion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27889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  Delta Lake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" y="128016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ACID transactions, time travel, Change Data Feed (CDF) for audits. Never lose data integrity even at scale.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88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822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 Apache Spark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128016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Distributed processing handles millions of rows. Same PySpark code runs on dev cluster or 100-node production.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822960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822960"/>
            <a:ext cx="2788920" cy="38404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22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 Widgets &amp; Configs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81928" y="128016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 variables (dev/prod) via dbutils.widgets. Zero code changes to switch environments.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743200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743200"/>
            <a:ext cx="27889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7432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⬆  Upsert Pattern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8328" y="32004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DeltaTable.merge() ensures idempotency. Re-run pipelines safely — no duplicates, no data loss.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743200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743200"/>
            <a:ext cx="27889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7432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 Staging Strategy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10128" y="32004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Incremental loads transform only new data. Historical records untouched. Cost-efficient at scale.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2743200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743200"/>
            <a:ext cx="27889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7432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🔗  Modular Jobs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81928" y="32004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 notebooks per dimension + fact. Independent testing, easy onboarding for new hires.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36576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24128"/>
            <a:ext cx="4572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0698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Medallion architecture (Bronze→Silver→Gold) is the industry standard for taming chaotic post-merger data without disrupting legacy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4572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739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8196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 schema with SHA2 surrogate keys enables seamless parent-child merging even when source schemas differ significantly.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23744"/>
            <a:ext cx="4572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23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694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Staging-based incremental loads are cost-efficient — process only new data daily while historical gold remains untouched.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73552"/>
            <a:ext cx="4572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735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3192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 Lake upserts ensure idempotency: pipelines can be re-run safely with no duplicates or data loss.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4572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Databricks Workflows + Genie AI give both engineers and business analysts a unified platform from ingestion to insight.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A8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Engineering = Ingredients  |  BI Dashboards = Recipes  |  Clean Gold Layer = The Foundation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FCB4A-2C3F-8FEC-C861-22167418773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98C0E-530D-5AD2-0AF2-C6BD3C6E3885}"/>
              </a:ext>
            </a:extLst>
          </p:cNvPr>
          <p:cNvSpPr txBox="1"/>
          <p:nvPr/>
        </p:nvSpPr>
        <p:spPr>
          <a:xfrm>
            <a:off x="2045676" y="1861847"/>
            <a:ext cx="4671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5914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1599</Words>
  <Application>Microsoft Office PowerPoint</Application>
  <PresentationFormat>On-screen Show (16:9)</PresentationFormat>
  <Paragraphs>246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Data Pipeline – Atlon &amp; Sports Bar</dc:title>
  <dc:subject>PptxGenJS Presentation</dc:subject>
  <dc:creator>PptxGenJS</dc:creator>
  <cp:lastModifiedBy>Ashish Dedhia</cp:lastModifiedBy>
  <cp:revision>19</cp:revision>
  <dcterms:created xsi:type="dcterms:W3CDTF">2026-04-08T15:57:56Z</dcterms:created>
  <dcterms:modified xsi:type="dcterms:W3CDTF">2026-04-09T03:52:41Z</dcterms:modified>
</cp:coreProperties>
</file>